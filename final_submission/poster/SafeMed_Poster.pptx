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23" d="100"/>
          <a:sy n="23" d="100"/>
        </p:scale>
        <p:origin x="81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6D5E66F-9009-47ED-BB8E-E6EE944B40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7543800"/>
            <a:ext cx="10058400" cy="8686800"/>
          </a:xfrm>
          <a:solidFill>
            <a:schemeClr val="bg1">
              <a:alpha val="70000"/>
            </a:schemeClr>
          </a:solidFill>
          <a:effectLst>
            <a:softEdge rad="101600"/>
          </a:effectLst>
          <a:scene3d>
            <a:camera prst="orthographicFront"/>
            <a:lightRig rig="threePt" dir="t"/>
          </a:scene3d>
          <a:sp3d prstMaterial="matte">
            <a:bevelT prst="relaxedInset"/>
          </a:sp3d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6600">
                <a:latin typeface="+mn-lt"/>
              </a:defRPr>
            </a:lvl1pPr>
          </a:lstStyle>
          <a:p>
            <a:pPr lvl="0"/>
            <a:r>
              <a:rPr lang="en-US" dirty="0"/>
              <a:t>Add a succinct introduction to the focus of this project.  You should name this section appropriately (Introduction, Problem Statement, </a:t>
            </a:r>
            <a:r>
              <a:rPr lang="en-US" dirty="0" err="1"/>
              <a:t>etc</a:t>
            </a:r>
            <a:r>
              <a:rPr lang="en-US" dirty="0"/>
              <a:t>).  Font size should not be less than 36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11ECAA6F-8BF8-47E6-822C-3181D97DA5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918400" y="7543800"/>
            <a:ext cx="10058400" cy="19431000"/>
          </a:xfrm>
          <a:solidFill>
            <a:schemeClr val="bg1">
              <a:alpha val="70000"/>
            </a:schemeClr>
          </a:solidFill>
          <a:effectLst>
            <a:softEdge rad="101600"/>
          </a:effectLst>
          <a:scene3d>
            <a:camera prst="orthographicFront"/>
            <a:lightRig rig="threePt" dir="t"/>
          </a:scene3d>
          <a:sp3d prstMaterial="matte">
            <a:bevelT prst="relaxedInset"/>
          </a:sp3d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6600" i="0">
                <a:latin typeface="+mn-lt"/>
              </a:defRPr>
            </a:lvl1pPr>
          </a:lstStyle>
          <a:p>
            <a:pPr lvl="0"/>
            <a:r>
              <a:rPr lang="en-US" dirty="0"/>
              <a:t>Draw conclusions here. Do not just restate your results, but draw new information from them.  Summarize what you learned.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74161529-3307-4BDF-8138-E78B39B4B61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887200" y="7543800"/>
            <a:ext cx="20116800" cy="19431000"/>
          </a:xfrm>
          <a:solidFill>
            <a:schemeClr val="bg1">
              <a:alpha val="70000"/>
            </a:schemeClr>
          </a:solidFill>
          <a:effectLst>
            <a:glow rad="101600">
              <a:srgbClr val="006747">
                <a:alpha val="40000"/>
              </a:srgbClr>
            </a:glow>
            <a:softEdge rad="101600"/>
          </a:effectLst>
          <a:scene3d>
            <a:camera prst="orthographicFront"/>
            <a:lightRig rig="threePt" dir="t"/>
          </a:scene3d>
          <a:sp3d prstMaterial="matte">
            <a:bevelT prst="relaxedInset"/>
          </a:sp3d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6600">
                <a:latin typeface="+mn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6904" y="669497"/>
            <a:ext cx="33997392" cy="2560320"/>
          </a:xfrm>
        </p:spPr>
        <p:txBody>
          <a:bodyPr anchor="ctr" anchorCtr="0">
            <a:normAutofit/>
          </a:bodyPr>
          <a:lstStyle>
            <a:lvl1pPr algn="ctr">
              <a:defRPr sz="9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Project title</a:t>
            </a:r>
            <a:br>
              <a:rPr lang="en-US" dirty="0"/>
            </a:br>
            <a:r>
              <a:rPr lang="en-US" dirty="0"/>
              <a:t>Should not exceed 2 lines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176E7FB-5EE2-4130-8605-3413E722BE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400800"/>
            <a:ext cx="10058400" cy="1143000"/>
          </a:xfrm>
          <a:noFill/>
          <a:effectLst>
            <a:glow rad="177800">
              <a:schemeClr val="tx1">
                <a:alpha val="40000"/>
              </a:schemeClr>
            </a:glo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Introduction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F4F2A96E-4378-4CF0-B899-C10E83F2EC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918400" y="6400800"/>
            <a:ext cx="10058400" cy="1143000"/>
          </a:xfrm>
          <a:noFill/>
          <a:effectLst>
            <a:glow rad="177800">
              <a:schemeClr val="tx1">
                <a:alpha val="40000"/>
              </a:schemeClr>
            </a:glo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Conclusion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CD32646F-4A35-470F-AFA8-9E40AB71E4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18288000"/>
            <a:ext cx="10058400" cy="8686800"/>
          </a:xfrm>
          <a:solidFill>
            <a:schemeClr val="bg1">
              <a:alpha val="70000"/>
            </a:schemeClr>
          </a:solidFill>
          <a:effectLst>
            <a:softEdge rad="101600"/>
          </a:effectLst>
          <a:scene3d>
            <a:camera prst="orthographicFront"/>
            <a:lightRig rig="threePt" dir="t"/>
          </a:scene3d>
          <a:sp3d prstMaterial="matte">
            <a:bevelT prst="relaxedInset"/>
          </a:sp3d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6600">
                <a:latin typeface="+mn-lt"/>
              </a:defRPr>
            </a:lvl1pPr>
          </a:lstStyle>
          <a:p>
            <a:pPr lvl="0"/>
            <a:r>
              <a:rPr lang="en-US" dirty="0"/>
              <a:t>List tools or methodologies you used; briefly describe your process. </a:t>
            </a:r>
          </a:p>
          <a:p>
            <a:pPr lvl="0"/>
            <a:endParaRPr lang="en-US" dirty="0"/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7606CCBB-CB88-413D-A464-22C730DB74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17145000"/>
            <a:ext cx="10058400" cy="1143000"/>
          </a:xfrm>
          <a:noFill/>
          <a:effectLst>
            <a:glow rad="177800">
              <a:schemeClr val="tx1">
                <a:alpha val="40000"/>
              </a:schemeClr>
            </a:glo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Materials/Methods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A3DED52D-79A8-4AA3-AA78-01A5C4BA7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9032200"/>
            <a:ext cx="20574000" cy="2971800"/>
          </a:xfrm>
          <a:solidFill>
            <a:schemeClr val="bg1">
              <a:alpha val="70000"/>
            </a:schemeClr>
          </a:solidFill>
          <a:effectLst>
            <a:softEdge rad="101600"/>
          </a:effectLst>
          <a:scene3d>
            <a:camera prst="orthographicFront"/>
            <a:lightRig rig="threePt" dir="t"/>
          </a:scene3d>
          <a:sp3d prstMaterial="matte">
            <a:bevelT prst="relaxedInset"/>
          </a:sp3d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6600">
                <a:latin typeface="+mn-lt"/>
              </a:defRPr>
            </a:lvl1pPr>
          </a:lstStyle>
          <a:p>
            <a:pPr lvl="0"/>
            <a:r>
              <a:rPr lang="en-US" dirty="0"/>
              <a:t>List primary resources, links for tools, </a:t>
            </a:r>
            <a:r>
              <a:rPr lang="en-US" dirty="0" err="1"/>
              <a:t>etc</a:t>
            </a:r>
            <a:r>
              <a:rPr lang="en-US" dirty="0"/>
              <a:t> here.  This text can be smaller (as it is not the focus of your poster); do not go smaller than 24 pt. font.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B4E0C4AA-0531-4C45-BA36-9C088D53B2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27889200"/>
            <a:ext cx="20574000" cy="1143000"/>
          </a:xfrm>
          <a:noFill/>
          <a:effectLst>
            <a:glow rad="177800">
              <a:schemeClr val="tx1">
                <a:alpha val="40000"/>
              </a:schemeClr>
            </a:glo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Bibliography, Additional Resources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D97286D3-0DCF-458A-BC3C-E861081AAD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887200" y="6400800"/>
            <a:ext cx="20116800" cy="1143000"/>
          </a:xfrm>
          <a:noFill/>
          <a:effectLst>
            <a:glow rad="177800">
              <a:schemeClr val="tx1">
                <a:alpha val="40000"/>
              </a:schemeClr>
            </a:glo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Results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445B09A0-E4B9-499C-AAD0-CFD28A9E7B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918400" y="29032200"/>
            <a:ext cx="10058400" cy="2971800"/>
          </a:xfrm>
          <a:solidFill>
            <a:schemeClr val="bg1">
              <a:alpha val="70000"/>
            </a:schemeClr>
          </a:solidFill>
          <a:effectLst>
            <a:softEdge rad="101600"/>
          </a:effectLst>
          <a:scene3d>
            <a:camera prst="orthographicFront"/>
            <a:lightRig rig="threePt" dir="t"/>
          </a:scene3d>
          <a:sp3d prstMaterial="matte">
            <a:bevelT prst="relaxedInset"/>
          </a:sp3d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4800">
                <a:latin typeface="+mn-lt"/>
              </a:defRPr>
            </a:lvl1pPr>
          </a:lstStyle>
          <a:p>
            <a:pPr lvl="0"/>
            <a:r>
              <a:rPr lang="en-US" dirty="0"/>
              <a:t>Put repository information here, links to final project (if web hosted), </a:t>
            </a:r>
            <a:r>
              <a:rPr lang="en-US" dirty="0" err="1"/>
              <a:t>etc</a:t>
            </a:r>
            <a:br>
              <a:rPr lang="en-US" dirty="0"/>
            </a:br>
            <a:r>
              <a:rPr lang="en-US" dirty="0"/>
              <a:t>Make </a:t>
            </a:r>
            <a:r>
              <a:rPr lang="en-US" dirty="0" err="1"/>
              <a:t>urls</a:t>
            </a:r>
            <a:r>
              <a:rPr lang="en-US" dirty="0"/>
              <a:t> easy to find (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dirty="0" err="1"/>
              <a:t>shortener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0"/>
            <a:endParaRPr lang="en-US" dirty="0"/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B6D57FAF-8E5A-4883-A160-305F7FDE5D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918400" y="27889200"/>
            <a:ext cx="10058400" cy="1143000"/>
          </a:xfrm>
          <a:noFill/>
          <a:effectLst>
            <a:glow rad="177800">
              <a:schemeClr val="tx1">
                <a:alpha val="40000"/>
              </a:schemeClr>
            </a:glo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Further Information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C7A5DCD1-D6DC-42D4-A4EE-2B1EE7DCCA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402800" y="29032200"/>
            <a:ext cx="9601200" cy="2971800"/>
          </a:xfrm>
          <a:solidFill>
            <a:schemeClr val="bg1">
              <a:alpha val="70000"/>
            </a:schemeClr>
          </a:solidFill>
          <a:effectLst>
            <a:softEdge rad="101600"/>
          </a:effectLst>
          <a:scene3d>
            <a:camera prst="orthographicFront"/>
            <a:lightRig rig="threePt" dir="t"/>
          </a:scene3d>
          <a:sp3d prstMaterial="matte">
            <a:bevelT prst="relaxedInset"/>
          </a:sp3d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6600">
                <a:latin typeface="+mn-lt"/>
              </a:defRPr>
            </a:lvl1pPr>
          </a:lstStyle>
          <a:p>
            <a:pPr lvl="0"/>
            <a:r>
              <a:rPr lang="en-US" dirty="0"/>
              <a:t>List sponsors, mentors, </a:t>
            </a:r>
            <a:r>
              <a:rPr lang="en-US" dirty="0" err="1"/>
              <a:t>etc</a:t>
            </a:r>
            <a:r>
              <a:rPr lang="en-US" dirty="0"/>
              <a:t> here.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D9C3A5D8-588C-42C1-9AAC-5510B78A11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2402800" y="27889200"/>
            <a:ext cx="9601200" cy="1143000"/>
          </a:xfrm>
          <a:noFill/>
          <a:effectLst>
            <a:glow rad="177800">
              <a:schemeClr val="tx1">
                <a:alpha val="40000"/>
              </a:schemeClr>
            </a:glo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Acknowledgements</a:t>
            </a:r>
          </a:p>
        </p:txBody>
      </p:sp>
      <p:pic>
        <p:nvPicPr>
          <p:cNvPr id="1030" name="Picture 6" descr="https://www.nwmissouri.edu/marketing/images/design/logos/N60-2Stack-W.png">
            <a:extLst>
              <a:ext uri="{FF2B5EF4-FFF2-40B4-BE49-F238E27FC236}">
                <a16:creationId xmlns:a16="http://schemas.microsoft.com/office/drawing/2014/main" id="{50547536-0CA8-4774-955F-78103C8DB4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56360" y="512064"/>
            <a:ext cx="3920693" cy="4434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8C3ECC03-D912-4EB3-A934-2B129A10535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12064" y="512064"/>
            <a:ext cx="3922776" cy="4434840"/>
          </a:xfrm>
        </p:spPr>
        <p:txBody>
          <a:bodyPr>
            <a:noAutofit/>
          </a:bodyPr>
          <a:lstStyle>
            <a:lvl1pPr marL="0" indent="0">
              <a:buNone/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additional appropriate graphic/logo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F188B7-C6D1-4738-B4EC-BBEFDCC229C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46904" y="3380693"/>
            <a:ext cx="33997392" cy="914400"/>
          </a:xfrm>
        </p:spPr>
        <p:txBody>
          <a:bodyPr anchor="ctr" anchorCtr="0"/>
          <a:lstStyle>
            <a:lvl1pPr marL="0" indent="0" algn="ctr">
              <a:lnSpc>
                <a:spcPct val="100000"/>
              </a:lnSpc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Name(s)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BEDC5CEC-772F-4CE6-8FEB-CEB37B70F4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46904" y="4404422"/>
            <a:ext cx="33997392" cy="914400"/>
          </a:xfrm>
        </p:spPr>
        <p:txBody>
          <a:bodyPr anchor="ctr" anchorCtr="0"/>
          <a:lstStyle>
            <a:lvl1pPr marL="0" indent="0" algn="ctr">
              <a:lnSpc>
                <a:spcPct val="100000"/>
              </a:lnSpc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Contact and Affiliations</a:t>
            </a:r>
          </a:p>
        </p:txBody>
      </p:sp>
    </p:spTree>
    <p:extLst>
      <p:ext uri="{BB962C8B-B14F-4D97-AF65-F5344CB8AC3E}">
        <p14:creationId xmlns:p14="http://schemas.microsoft.com/office/powerpoint/2010/main" val="3465740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5B7AD-C0E4-4106-98F1-A426950388A1}" type="datetimeFigureOut">
              <a:rPr lang="en-US" smtClean="0"/>
              <a:t>4/19/2019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186B7-4AB0-4B70-BB5B-FE2ED47BE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412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A65ED08B-B775-435A-9B4F-BDA086DCE7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tIns="365760">
            <a:normAutofit fontScale="92500" lnSpcReduction="20000"/>
          </a:bodyPr>
          <a:lstStyle/>
          <a:p>
            <a:pPr algn="l">
              <a:buNone/>
            </a:pPr>
            <a:r>
              <a:rPr lang="en-US" sz="2200" dirty="0" b="1"/>
              <a:t>INTRODUCTION / BACKGROUND</a:t>
            </a:r>
            <a:endParaRPr lang="en-US" sz="2200" dirty="0" b="1"/>
          </a:p>
          <a:p>
            <a:pPr algn="l">
              <a:buNone/>
            </a:pPr>
            <a:r>
              <a:rPr lang="en-US" sz="2000" dirty="0"/>
              <a:t>• ADR reporting is often fragmented, slow to review, and hard to prioritize consistently.</a:t>
            </a:r>
            <a:endParaRPr lang="en-US" sz="2000" dirty="0"/>
          </a:p>
          <a:p>
            <a:pPr algn="l">
              <a:buNone/>
            </a:pPr>
            <a:r>
              <a:rPr lang="en-US" sz="2000" dirty="0"/>
              <a:t>• Patients need a simple way to submit side effects across desktop and mobile workflows.</a:t>
            </a:r>
            <a:endParaRPr lang="en-US" sz="2000" dirty="0"/>
          </a:p>
          <a:p>
            <a:pPr algn="l">
              <a:buNone/>
            </a:pPr>
            <a:r>
              <a:rPr lang="en-US" sz="2000" dirty="0"/>
              <a:t>• Clinicians need secure, structured, and searchable reports instead of scattered free-text evidence.</a:t>
            </a:r>
            <a:endParaRPr lang="en-US" sz="2000" dirty="0"/>
          </a:p>
          <a:p>
            <a:pPr algn="l">
              <a:buNone/>
            </a:pPr>
            <a:r>
              <a:rPr lang="en-US" sz="2200" dirty="0" b="1"/>
              <a:t>PROBLEM STATEMENT / RESEARCH QUESTION</a:t>
            </a:r>
            <a:endParaRPr lang="en-US" sz="2200" dirty="0" b="1"/>
          </a:p>
          <a:p>
            <a:pPr algn="l">
              <a:buNone/>
            </a:pPr>
            <a:r>
              <a:rPr lang="en-US" sz="2000" dirty="0"/>
              <a:t>• How can one cross-platform system collect multimodal ADR evidence and support faster duplicate-aware triage?</a:t>
            </a:r>
            <a:endParaRPr lang="en-US" sz="2000" dirty="0"/>
          </a:p>
          <a:p>
            <a:pPr algn="l">
              <a:buNone/>
            </a:pPr>
            <a:r>
              <a:rPr lang="en-US" sz="2000" dirty="0"/>
              <a:t>• Gap: the project requirements combine secure intake, AI triage, duplicate screening, and role-based review in one workflow.</a:t>
            </a:r>
            <a:endParaRPr lang="en-US" sz="2000" dirty="0"/>
          </a:p>
        </p:txBody>
      </p:sp>
      <p:sp>
        <p:nvSpPr>
          <p:cNvPr id="3" name="Text Placeholder 2">
            <a:extLst>
              <a:ext uri="{FF2B5EF4-FFF2-40B4-BE49-F238E27FC236}">
                <ns2:creationId id="{29B455F1-3C6C-4C07-9CB2-BCAEB0D8A7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tIns="365760"/>
          <a:lstStyle/>
          <a:p>
            <a:pPr algn="l">
              <a:buNone/>
            </a:pPr>
            <a:r>
              <a:rPr lang="en-US" sz="2200" dirty="0" b="1"/>
              <a:t>DISCUSSION</a:t>
            </a:r>
            <a:endParaRPr lang="en-US" sz="2200" dirty="0" b="1"/>
          </a:p>
          <a:p>
            <a:pPr algn="l">
              <a:buNone/>
            </a:pPr>
            <a:r>
              <a:rPr lang="en-US" sz="2000" dirty="0"/>
              <a:t>• SafeMed demonstrates an end-to-end ADR workflow instead of isolated UI mockups.</a:t>
            </a:r>
            <a:endParaRPr lang="en-US" sz="2000" dirty="0"/>
          </a:p>
          <a:p>
            <a:pPr algn="l">
              <a:buNone/>
            </a:pPr>
            <a:r>
              <a:rPr lang="en-US" sz="2000" dirty="0"/>
              <a:t>• Queue-based AI processing keeps submission responsive while supporting later enrichment.</a:t>
            </a:r>
            <a:endParaRPr lang="en-US" sz="2000" dirty="0"/>
          </a:p>
          <a:p>
            <a:pPr algn="l">
              <a:buNone/>
            </a:pPr>
            <a:r>
              <a:rPr lang="en-US" sz="2000" dirty="0"/>
              <a:t>• Strengths: multimodal input, cross-platform clients, role-aware review, and a containerized service design.</a:t>
            </a:r>
            <a:endParaRPr lang="en-US" sz="2000" dirty="0"/>
          </a:p>
          <a:p>
            <a:pPr algn="l">
              <a:buNone/>
            </a:pPr>
            <a:r>
              <a:rPr lang="en-US" sz="2000" dirty="0"/>
              <a:t>• Limitations: duplicate merging, full multilingual coverage, graphing, urgent alerts, and print layout are still partial.</a:t>
            </a:r>
            <a:endParaRPr lang="en-US" sz="2000" dirty="0"/>
          </a:p>
          <a:p>
            <a:pPr algn="l">
              <a:buNone/>
            </a:pPr>
            <a:r>
              <a:rPr lang="en-US" sz="2200" dirty="0" b="1"/>
              <a:t>CONCLUSION</a:t>
            </a:r>
            <a:endParaRPr lang="en-US" sz="2200" dirty="0" b="1"/>
          </a:p>
          <a:p>
            <a:pPr algn="l">
              <a:buNone/>
            </a:pPr>
            <a:r>
              <a:rPr lang="en-US" sz="2000" dirty="0"/>
              <a:t>• The project shows a credible CS prototype for AI-assisted ADR reporting across patient and clinician workflows.</a:t>
            </a:r>
            <a:endParaRPr lang="en-US" sz="2000" dirty="0"/>
          </a:p>
          <a:p>
            <a:pPr algn="l">
              <a:buNone/>
            </a:pPr>
            <a:r>
              <a:rPr lang="en-US" sz="2000" dirty="0"/>
              <a:t>• The strongest defensible claim is an implemented prototype with seeded scenarios and async analysis, not a finished production platform.</a:t>
            </a:r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ns2:creationId id="{A459AC47-94BC-470C-9B8A-970292C0AD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887200" y="18287998"/>
            <a:ext cx="20116800" cy="8686801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ns2:creationId id="{6F7474F1-B7EB-40BD-B650-D37E0AA066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4600" dirty="0" b="1"/>
              <a:t>SafeMed: AI-Assisted ADR Reporting With Duplicate Detection and Severity Triage</a:t>
            </a:r>
            <a:endParaRPr lang="en-US" sz="4600" dirty="0" b="1"/>
          </a:p>
        </p:txBody>
      </p:sp>
      <p:sp>
        <p:nvSpPr>
          <p:cNvPr id="6" name="Text Placeholder 5">
            <a:extLst>
              <a:ext uri="{FF2B5EF4-FFF2-40B4-BE49-F238E27FC236}">
                <ns2:creationId id="{CCC8C212-9152-47EB-9021-DDD1B739EE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l">
              <a:buNone/>
            </a:pPr>
            <a:r>
              <a:rPr lang="en-US" sz="2400" dirty="0" b="1"/>
              <a:t>Background &amp; Problem</a:t>
            </a:r>
            <a:endParaRPr lang="en-US" sz="2400" dirty="0" b="1"/>
          </a:p>
        </p:txBody>
      </p:sp>
      <p:sp>
        <p:nvSpPr>
          <p:cNvPr id="7" name="Text Placeholder 6">
            <a:extLst>
              <a:ext uri="{FF2B5EF4-FFF2-40B4-BE49-F238E27FC236}">
                <ns2:creationId id="{0F002AEE-7ABF-4F25-90D8-22D1918F98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l">
              <a:buNone/>
            </a:pPr>
            <a:r>
              <a:rPr lang="en-US" sz="2400" dirty="0" b="1"/>
              <a:t>Discussion &amp; Conclusion</a:t>
            </a:r>
            <a:endParaRPr lang="en-US" sz="2400" dirty="0" b="1"/>
          </a:p>
        </p:txBody>
      </p:sp>
      <p:sp>
        <p:nvSpPr>
          <p:cNvPr id="8" name="Text Placeholder 7">
            <a:extLst>
              <a:ext uri="{FF2B5EF4-FFF2-40B4-BE49-F238E27FC236}">
                <ns2:creationId id="{8137AE60-4368-42C2-A299-E0F9F0B57D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18288000"/>
            <a:ext cx="10058400" cy="8686800"/>
          </a:xfrm>
        </p:spPr>
        <p:txBody>
          <a:bodyPr tIns="365760">
            <a:normAutofit fontScale="55000" lnSpcReduction="20000"/>
          </a:bodyPr>
          <a:lstStyle/>
          <a:p>
            <a:pPr algn="l">
              <a:buNone/>
            </a:pPr>
            <a:r>
              <a:rPr lang="en-US" sz="2200" dirty="0" b="1"/>
              <a:t>OBJECTIVES / CONTRIBUTIONS</a:t>
            </a:r>
            <a:endParaRPr lang="en-US" sz="2200" dirty="0" b="1"/>
          </a:p>
          <a:p>
            <a:pPr algn="l">
              <a:buNone/>
            </a:pPr>
            <a:r>
              <a:rPr lang="en-US" sz="2000" dirty="0"/>
              <a:t>• Build a unified ADR reporting system for web and mobile users.</a:t>
            </a:r>
            <a:endParaRPr lang="en-US" sz="2000" dirty="0"/>
          </a:p>
          <a:p>
            <a:pPr algn="l">
              <a:buNone/>
            </a:pPr>
            <a:r>
              <a:rPr lang="en-US" sz="2000" dirty="0"/>
              <a:t>• Support text, image, and audio submission with AI-assisted structuring.</a:t>
            </a:r>
            <a:endParaRPr lang="en-US" sz="2000" dirty="0"/>
          </a:p>
          <a:p>
            <a:pPr algn="l">
              <a:buNone/>
            </a:pPr>
            <a:r>
              <a:rPr lang="en-US" sz="2000" dirty="0"/>
              <a:t>• Add secure authentication, role-based access, notifications, export, and symptom progression tracking.</a:t>
            </a:r>
            <a:endParaRPr lang="en-US" sz="2000" dirty="0"/>
          </a:p>
          <a:p>
            <a:pPr algn="l">
              <a:buNone/>
            </a:pPr>
            <a:r>
              <a:rPr lang="en-US" sz="2000" dirty="0"/>
              <a:t>• Use duplicate detection and severity prioritization to reduce review burden.</a:t>
            </a:r>
            <a:endParaRPr lang="en-US" sz="2000" dirty="0"/>
          </a:p>
          <a:p>
            <a:pPr algn="l">
              <a:buNone/>
            </a:pPr>
            <a:r>
              <a:rPr lang="en-US" sz="2200" dirty="0" b="1"/>
              <a:t>FUTURE WORK</a:t>
            </a:r>
            <a:endParaRPr lang="en-US" sz="2200" dirty="0" b="1"/>
          </a:p>
          <a:p>
            <a:pPr algn="l">
              <a:buNone/>
            </a:pPr>
            <a:r>
              <a:rPr lang="en-US" sz="2000" dirty="0"/>
              <a:t>• Complete confirmed-duplicate merge workflows and urgent staff escalation.</a:t>
            </a:r>
            <a:endParaRPr lang="en-US" sz="2000" dirty="0"/>
          </a:p>
          <a:p>
            <a:pPr algn="l">
              <a:buNone/>
            </a:pPr>
            <a:r>
              <a:rPr lang="en-US" sz="2000" dirty="0"/>
              <a:t>• Finish multilingual coverage and analytics dashboards.</a:t>
            </a:r>
            <a:endParaRPr lang="en-US" sz="2000" dirty="0"/>
          </a:p>
          <a:p>
            <a:pPr algn="l">
              <a:buNone/>
            </a:pPr>
            <a:r>
              <a:rPr lang="en-US" sz="2000" dirty="0"/>
              <a:t>• Improve printable report layouts and deeper clinician review flows.</a:t>
            </a:r>
            <a:endParaRPr lang="en-US" sz="2000" dirty="0"/>
          </a:p>
          <a:p>
            <a:pPr algn="l">
              <a:buNone/>
            </a:pPr>
            <a:r>
              <a:rPr lang="en-US" sz="2000" dirty="0"/>
              <a:t>• Evaluate the system on larger or de-identified ADR datasets.</a:t>
            </a:r>
            <a:endParaRPr lang="en-US" sz="2000" dirty="0"/>
          </a:p>
        </p:txBody>
      </p:sp>
      <p:sp>
        <p:nvSpPr>
          <p:cNvPr id="9" name="Text Placeholder 8">
            <a:extLst>
              <a:ext uri="{FF2B5EF4-FFF2-40B4-BE49-F238E27FC236}">
                <ns2:creationId id="{9C535820-2B15-48C9-B0AA-9FA5E543AB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algn="l">
              <a:buNone/>
            </a:pPr>
            <a:r>
              <a:rPr lang="en-US" sz="2400" dirty="0" b="1"/>
              <a:t>Objectives &amp; Future Work</a:t>
            </a:r>
            <a:endParaRPr lang="en-US" sz="2400" dirty="0" b="1"/>
          </a:p>
        </p:txBody>
      </p:sp>
      <p:sp>
        <p:nvSpPr>
          <p:cNvPr id="10" name="Text Placeholder 9">
            <a:extLst>
              <a:ext uri="{FF2B5EF4-FFF2-40B4-BE49-F238E27FC236}">
                <ns2:creationId id="{2F1AFE3A-F984-4AF2-BF89-DF5843246A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tIns="274320" numCol="1">
            <a:noAutofit/>
          </a:bodyPr>
          <a:lstStyle/>
          <a:p>
            <a:pPr algn="l">
              <a:buNone/>
            </a:pPr>
            <a:r>
              <a:rPr lang="en-US" sz="1500" dirty="0"/>
              <a:t>Ouahidi, I., Modugula, A. R., &amp; Vodnala, L. (n.d.). Functional requirements list - final - group 5. GDP-Group5 project wiki.</a:t>
            </a:r>
            <a:endParaRPr lang="en-US" sz="1500" dirty="0"/>
          </a:p>
          <a:p>
            <a:pPr algn="l">
              <a:buNone/>
            </a:pPr>
            <a:r>
              <a:rPr lang="en-US" sz="1500" dirty="0"/>
              <a:t>Ouahidi, I., Modugula, A. R., &amp; Vodnala, L. (n.d.). Software requirements specification - group 5. GDP-Group5 project wiki.</a:t>
            </a:r>
            <a:endParaRPr lang="en-US" sz="1500" dirty="0"/>
          </a:p>
          <a:p>
            <a:pPr algn="l">
              <a:buNone/>
            </a:pPr>
            <a:r>
              <a:rPr lang="en-US" sz="1500" dirty="0"/>
              <a:t>Ouahidi, I., Modugula, A. R., &amp; Vodnala, L. (n.d.). Use cases (Iteration 2). GDP-Group5 project wiki.</a:t>
            </a:r>
            <a:endParaRPr lang="en-US" sz="1500" dirty="0"/>
          </a:p>
          <a:p>
            <a:pPr algn="l">
              <a:buNone/>
            </a:pPr>
            <a:r>
              <a:rPr lang="en-US" sz="1500" dirty="0"/>
              <a:t>Ouahidi, I., Modugula, A. R., &amp; Vodnala, L. (n.d.). Client meeting minutes IV. GDP-Group5 project wiki.</a:t>
            </a:r>
            <a:endParaRPr lang="en-US" sz="1500" dirty="0"/>
          </a:p>
        </p:txBody>
      </p:sp>
      <p:sp>
        <p:nvSpPr>
          <p:cNvPr id="11" name="Text Placeholder 10">
            <a:extLst>
              <a:ext uri="{FF2B5EF4-FFF2-40B4-BE49-F238E27FC236}">
                <ns2:creationId id="{7DD57B1E-4D9F-47F9-88F7-FB032B9D63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algn="l">
              <a:buNone/>
            </a:pPr>
            <a:r>
              <a:rPr lang="en-US" sz="2400" dirty="0" b="1"/>
              <a:t>References</a:t>
            </a:r>
            <a:endParaRPr lang="en-US" sz="2400" dirty="0" b="1"/>
          </a:p>
        </p:txBody>
      </p:sp>
      <p:sp>
        <p:nvSpPr>
          <p:cNvPr id="12" name="Text Placeholder 11">
            <a:extLst>
              <a:ext uri="{FF2B5EF4-FFF2-40B4-BE49-F238E27FC236}">
                <ns2:creationId id="{65D66D60-3409-4A83-882F-DEF1F6DDFE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887200" y="17144998"/>
            <a:ext cx="20116800" cy="1143000"/>
          </a:xfrm>
        </p:spPr>
        <p:txBody>
          <a:bodyPr/>
          <a:lstStyle/>
          <a:p>
            <a:pPr algn="l">
              <a:buNone/>
            </a:pPr>
            <a:r>
              <a:rPr lang="en-US" sz="2400" dirty="0" b="1"/>
              <a:t>Results</a:t>
            </a:r>
            <a:endParaRPr lang="en-US" sz="2400" dirty="0" b="1"/>
          </a:p>
        </p:txBody>
      </p:sp>
      <p:sp>
        <p:nvSpPr>
          <p:cNvPr id="13" name="Text Placeholder 12">
            <a:extLst>
              <a:ext uri="{FF2B5EF4-FFF2-40B4-BE49-F238E27FC236}">
                <ns2:creationId id="{653E4573-0153-477E-A6EA-F369D642E8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tIns="91440" bIns="274320" anchor="b" anchorCtr="0">
            <a:normAutofit/>
          </a:bodyPr>
          <a:lstStyle/>
          <a:p>
            <a:pPr algn="l">
              <a:buNone/>
            </a:pPr>
            <a:r>
              <a:rPr lang="en-US" sz="1900" dirty="0"/>
              <a:t>Email: support@safemed.app</a:t>
            </a:r>
            <a:endParaRPr lang="en-US" sz="1900" dirty="0"/>
          </a:p>
          <a:p>
            <a:pPr algn="l">
              <a:buNone/>
            </a:pPr>
            <a:r>
              <a:rPr lang="en-US" sz="1800" dirty="0"/>
              <a:t>GitHub: github.com/ImadeddinOuahidi/GDP-Group5</a:t>
            </a:r>
            <a:endParaRPr lang="en-US" sz="1800" dirty="0"/>
          </a:p>
          <a:p>
            <a:pPr algn="l">
              <a:buNone/>
            </a:pPr>
            <a:r>
              <a:rPr lang="en-US" sz="1700" dirty="0"/>
              <a:t>Wiki: github.com/ImadeddinOuahidi/GDP-Group5/wiki</a:t>
            </a:r>
            <a:endParaRPr lang="en-US" sz="1700" dirty="0"/>
          </a:p>
        </p:txBody>
      </p:sp>
      <p:sp>
        <p:nvSpPr>
          <p:cNvPr id="14" name="Text Placeholder 13">
            <a:extLst>
              <a:ext uri="{FF2B5EF4-FFF2-40B4-BE49-F238E27FC236}">
                <ns2:creationId id="{D93257E1-88C3-4089-9BFF-38DFCEA27AC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algn="l">
              <a:buNone/>
            </a:pPr>
            <a:r>
              <a:rPr lang="en-US" sz="2400" dirty="0" b="1"/>
              <a:t>Contact Information</a:t>
            </a:r>
            <a:endParaRPr lang="en-US" sz="2400" dirty="0" b="1"/>
          </a:p>
        </p:txBody>
      </p:sp>
      <p:sp>
        <p:nvSpPr>
          <p:cNvPr id="15" name="Text Placeholder 14">
            <a:extLst>
              <a:ext uri="{FF2B5EF4-FFF2-40B4-BE49-F238E27FC236}">
                <ns2:creationId id="{47FED097-712A-4391-BB35-7534ADE256A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 tIns="274320">
            <a:normAutofit fontScale="55000" lnSpcReduction="20000"/>
          </a:bodyPr>
          <a:lstStyle/>
          <a:p>
            <a:pPr algn="l">
              <a:buNone/>
            </a:pPr>
            <a:r>
              <a:rPr lang="en-US" sz="1700" dirty="0"/>
              <a:t>• Northwest Missouri State University and the School of Computer Science and Information Systems.</a:t>
            </a:r>
            <a:endParaRPr lang="en-US" sz="1700" dirty="0"/>
          </a:p>
          <a:p>
            <a:pPr algn="l">
              <a:buNone/>
            </a:pPr>
            <a:r>
              <a:rPr lang="en-US" sz="1700" dirty="0"/>
              <a:t>• Group 5 contributors: Imadeddin Ouahidi, Anji Reddy Modugula, and Lohitha Vodnala.</a:t>
            </a:r>
            <a:endParaRPr lang="en-US" sz="1700" dirty="0"/>
          </a:p>
          <a:p>
            <a:pPr algn="l">
              <a:buNone/>
            </a:pPr>
            <a:r>
              <a:rPr lang="en-US" sz="1700" dirty="0"/>
              <a:t>• Project guidance and feedback documented in the SafeMed wiki and client meetings.</a:t>
            </a:r>
            <a:endParaRPr lang="en-US" sz="1700" dirty="0"/>
          </a:p>
        </p:txBody>
      </p:sp>
      <p:sp>
        <p:nvSpPr>
          <p:cNvPr id="16" name="Text Placeholder 15">
            <a:extLst>
              <a:ext uri="{FF2B5EF4-FFF2-40B4-BE49-F238E27FC236}">
                <ns2:creationId id="{F7C18949-3E74-4B71-BB77-D29BCE1BA17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algn="l">
              <a:buNone/>
            </a:pPr>
            <a:r>
              <a:rPr lang="en-US" sz="2400" dirty="0" b="1"/>
              <a:t>Acknowledgments</a:t>
            </a:r>
            <a:endParaRPr lang="en-US" sz="2400" dirty="0" b="1"/>
          </a:p>
        </p:txBody>
      </p:sp>
      <p:sp>
        <p:nvSpPr>
          <p:cNvPr id="18" name="Text Placeholder 17">
            <a:extLst>
              <a:ext uri="{FF2B5EF4-FFF2-40B4-BE49-F238E27FC236}">
                <ns2:creationId id="{6C7A8E39-51B8-446A-A58D-E4A6958BDFE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en-US" sz="2400" dirty="0"/>
              <a:t>Imadeddin Ouahidi, Anji Reddy Modugula, Lohitha Vodnala</a:t>
            </a:r>
            <a:endParaRPr lang="en-US" sz="2400" dirty="0"/>
          </a:p>
        </p:txBody>
      </p:sp>
      <p:sp>
        <p:nvSpPr>
          <p:cNvPr id="19" name="Text Placeholder 18">
            <a:extLst>
              <a:ext uri="{FF2B5EF4-FFF2-40B4-BE49-F238E27FC236}">
                <ns2:creationId id="{1230B1EE-E97C-4A5D-8EB4-FEE65881F4F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en-US" sz="1700" dirty="0"/>
              <a:t>School of Computer Science and Information Systems, Northwest Missouri State University, Maryville, Missouri, USA | support@safemed.app</a:t>
            </a:r>
            <a:endParaRPr lang="en-US" sz="1700" dirty="0"/>
          </a:p>
        </p:txBody>
      </p:sp>
      <p:sp>
        <p:nvSpPr>
          <p:cNvPr id="24" name="Text Placeholder 11">
            <a:extLst>
              <a:ext uri="{FF2B5EF4-FFF2-40B4-BE49-F238E27FC236}">
                <ns2:creationId id="{6B6AC518-BD97-4F4A-9ACC-57BD026A2A3B}"/>
              </a:ext>
            </a:extLst>
          </p:cNvPr>
          <p:cNvSpPr txBox="1">
            <a:spLocks/>
          </p:cNvSpPr>
          <p:nvPr/>
        </p:nvSpPr>
        <p:spPr>
          <a:xfrm>
            <a:off x="11430000" y="6400798"/>
            <a:ext cx="20116800" cy="1143000"/>
          </a:xfrm>
          <a:prstGeom prst="rect">
            <a:avLst/>
          </a:prstGeom>
          <a:noFill/>
          <a:effectLst>
            <a:glow rad="177800">
              <a:schemeClr val="tx1">
                <a:alpha val="40000"/>
              </a:schemeClr>
            </a:glo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4389120" rtl="0" eaLnBrk="1" latinLnBrk="0" hangingPunct="1">
              <a:lnSpc>
                <a:spcPct val="90000"/>
              </a:lnSpc>
              <a:spcBef>
                <a:spcPts val="4800"/>
              </a:spcBef>
              <a:buFont typeface="Arial" panose="020B0604020202020204" pitchFamily="34" charset="0"/>
              <a:buNone/>
              <a:defRPr sz="7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2918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11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9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52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920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760" indent="-1097280" algn="l" defTabSz="438912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 lang="en-US" sz="2400" dirty="0" b="1"/>
              <a:t>Methodology</a:t>
            </a:r>
            <a:endParaRPr lang="en-US" sz="2400" dirty="0" b="1"/>
          </a:p>
        </p:txBody>
      </p:sp>
      <p:sp>
        <p:nvSpPr>
          <p:cNvPr id="28" name="TextBox 27">
            <a:extLst>
              <a:ext uri="{FF2B5EF4-FFF2-40B4-BE49-F238E27FC236}">
                <ns2:creationId id="{8A853424-AB94-4487-BFD3-3CCE6E5F36F6}"/>
              </a:ext>
            </a:extLst>
          </p:cNvPr>
          <p:cNvSpPr txBox="1"/>
          <p:nvPr/>
        </p:nvSpPr>
        <p:spPr>
          <a:xfrm>
            <a:off x="11887200" y="18287998"/>
            <a:ext cx="20116800" cy="8686801"/>
          </a:xfrm>
          <a:prstGeom prst="rect">
            <a:avLst/>
          </a:prstGeom>
          <a:noFill/>
        </p:spPr>
        <p:txBody>
          <a:bodyPr wrap="square" tIns="45720" rtlCol="0" anchor="t" anchorCtr="0" bIns="45720" lIns="45720" rIns="45720">
            <a:spAutoFit/>
          </a:bodyPr>
          <a:lstStyle/>
          <a:p>
            <a:pPr algn="l">
              <a:buNone/>
            </a:pPr>
            <a:r>
              <a:rPr lang="en-US" sz="2200" dirty="0"/>
              <a:t>• The deployed architecture uses 6 runtime services plus 1 MinIO initialization helper in Docker Compose.</a:t>
            </a:r>
            <a:endParaRPr lang="en-US" sz="2200" dirty="0"/>
          </a:p>
          <a:p>
            <a:pPr algn="l">
              <a:buNone/>
            </a:pPr>
            <a:r>
              <a:rPr lang="en-US" sz="2200" dirty="0"/>
              <a:t>• The backend exposes 7 major API areas: auth, medications, reports, symptom progression, uploads, notifications, and export.</a:t>
            </a:r>
            <a:endParaRPr lang="en-US" sz="2200" dirty="0"/>
          </a:p>
          <a:p>
            <a:pPr algn="l">
              <a:buNone/>
            </a:pPr>
            <a:r>
              <a:rPr lang="en-US" sz="2200" dirty="0"/>
              <a:t>• The repo includes seeded demo accounts for patient and doctor workflows and curated ADR report scenarios.</a:t>
            </a:r>
            <a:endParaRPr lang="en-US" sz="2200" dirty="0"/>
          </a:p>
          <a:p>
            <a:pPr algn="l">
              <a:buNone/>
            </a:pPr>
            <a:r>
              <a:rPr lang="en-US" sz="2200" dirty="0"/>
              <a:t>• Demo reports span mild, moderate, and severe cases with AI risk scores such as 15, 35, 45, and 75.</a:t>
            </a:r>
            <a:endParaRPr lang="en-US" sz="2200" dirty="0"/>
          </a:p>
          <a:p>
            <a:pPr algn="l">
              <a:buNone/>
            </a:pPr>
            <a:r>
              <a:rPr lang="en-US" sz="2200" dirty="0"/>
              <a:t>• Web and mobile clients both support shared uploads, notifications, and role-based navigation.</a:t>
            </a:r>
            <a:endParaRPr lang="en-US" sz="2200" dirty="0"/>
          </a:p>
        </p:txBody>
      </p:sp>
      <p:sp>
        <p:nvSpPr>
          <p:cNvPr id="29" name="Methodology TextBox">
            <a:extLst>
              <a:ext uri="{FF2B5EF4-FFF2-40B4-BE49-F238E27FC236}">
                <ns2:creationId id="{8A853424-AB94-4487-BFD3-3CCE6E5F36F6}"/>
              </a:ext>
            </a:extLst>
          </p:cNvPr>
          <p:cNvSpPr txBox="1"/>
          <p:nvPr/>
        </p:nvSpPr>
        <p:spPr>
          <a:xfrm>
            <a:off x="11887200" y="7557845"/>
            <a:ext cx="20116799" cy="8592191"/>
          </a:xfrm>
          <a:prstGeom prst="rect">
            <a:avLst/>
          </a:prstGeom>
          <a:noFill/>
        </p:spPr>
        <p:txBody>
          <a:bodyPr wrap="square" tIns="45720" rtlCol="0" anchor="t" anchorCtr="0" bIns="45720" lIns="45720" rIns="45720">
            <a:spAutoFit/>
          </a:bodyPr>
          <a:lstStyle/>
          <a:p>
            <a:pPr algn="l">
              <a:buNone/>
            </a:pPr>
            <a:r>
              <a:rPr lang="en-US" sz="2200" dirty="0"/>
              <a:t>• Patient submits an ADR report from web or mobile using text, photo, or voice.</a:t>
            </a:r>
            <a:endParaRPr lang="en-US" sz="2200" dirty="0"/>
          </a:p>
          <a:p>
            <a:pPr algn="l">
              <a:buNone/>
            </a:pPr>
            <a:r>
              <a:rPr lang="en-US" sz="2200" dirty="0"/>
              <a:t>• Backend validates input, applies secure auth checks, and stores report data in MongoDB.</a:t>
            </a:r>
            <a:endParaRPr lang="en-US" sz="2200" dirty="0"/>
          </a:p>
          <a:p>
            <a:pPr algn="l">
              <a:buNone/>
            </a:pPr>
            <a:r>
              <a:rPr lang="en-US" sz="2200" dirty="0"/>
              <a:t>• Attachments are uploaded through MinIO-backed storage for shared web/mobile access.</a:t>
            </a:r>
            <a:endParaRPr lang="en-US" sz="2200" dirty="0"/>
          </a:p>
          <a:p>
            <a:pPr algn="l">
              <a:buNone/>
            </a:pPr>
            <a:r>
              <a:rPr lang="en-US" sz="2200" dirty="0"/>
              <a:t>• Duplicate screening compares recent reports in a 72-hour window with a 0.7 similarity threshold.</a:t>
            </a:r>
            <a:endParaRPr lang="en-US" sz="2200" dirty="0"/>
          </a:p>
          <a:p>
            <a:pPr algn="l">
              <a:buNone/>
            </a:pPr>
            <a:r>
              <a:rPr lang="en-US" sz="2200" dirty="0"/>
              <a:t>• RabbitMQ sends the report to an async AI consumer for severity, seriousness, priority, and guidance analysis.</a:t>
            </a:r>
            <a:endParaRPr lang="en-US" sz="2200" dirty="0"/>
          </a:p>
          <a:p>
            <a:pPr algn="l">
              <a:buNone/>
            </a:pPr>
            <a:r>
              <a:rPr lang="en-US" sz="2200" dirty="0"/>
              <a:t>• Clinicians review flagged cases, follow progression, receive notifications, and export reports.</a:t>
            </a:r>
            <a:endParaRPr lang="en-US" sz="2200" dirty="0"/>
          </a:p>
        </p:txBody>
      </p:sp>
    </p:spTree>
    <p:extLst>
      <p:ext uri="{BB962C8B-B14F-4D97-AF65-F5344CB8AC3E}">
        <ns3:creationId val="4287168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esearch Poster">
      <a:majorFont>
        <a:latin typeface="Helvetica"/>
        <a:ea typeface=""/>
        <a:cs typeface=""/>
      </a:majorFont>
      <a:minorFont>
        <a:latin typeface="Garamond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stract_bg" id="{29B32C95-BF94-4328-B440-C1461C2F0B06}" vid="{B9381D9B-251E-4F9E-BEA1-FCED3FB9D3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292</Words>
  <Application>Microsoft Office PowerPoint</Application>
  <PresentationFormat>Custom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Garamond</vt:lpstr>
      <vt:lpstr>Helvetica</vt:lpstr>
      <vt:lpstr>Office Theme</vt:lpstr>
      <vt:lpstr>GitSubmit: Integrating VCS in Introductory CS Classes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Eloe,Nathan</dc:creator>
  <cp:lastModifiedBy>Eloe,Nathan</cp:lastModifiedBy>
  <cp:revision>44</cp:revision>
  <dcterms:created xsi:type="dcterms:W3CDTF">2019-04-10T19:42:12Z</dcterms:created>
  <dcterms:modified xsi:type="dcterms:W3CDTF">2019-04-20T00:39:59Z</dcterms:modified>
</cp:coreProperties>
</file>